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305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306" r:id="rId13"/>
    <p:sldId id="307" r:id="rId14"/>
    <p:sldId id="308" r:id="rId15"/>
    <p:sldId id="309" r:id="rId16"/>
    <p:sldId id="303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2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37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 Vasilyev" userId="c9a2c3308cbc88f4" providerId="LiveId" clId="{3386B79A-5EF5-48B7-B68D-45D5C6AAF081}"/>
    <pc:docChg chg="modSld">
      <pc:chgData name="Anton Vasilyev" userId="c9a2c3308cbc88f4" providerId="LiveId" clId="{3386B79A-5EF5-48B7-B68D-45D5C6AAF081}" dt="2023-02-05T19:59:02.504" v="13"/>
      <pc:docMkLst>
        <pc:docMk/>
      </pc:docMkLst>
      <pc:sldChg chg="modAnim">
        <pc:chgData name="Anton Vasilyev" userId="c9a2c3308cbc88f4" providerId="LiveId" clId="{3386B79A-5EF5-48B7-B68D-45D5C6AAF081}" dt="2023-02-05T19:56:17.376" v="1"/>
        <pc:sldMkLst>
          <pc:docMk/>
          <pc:sldMk cId="1781270823" sldId="259"/>
        </pc:sldMkLst>
      </pc:sldChg>
      <pc:sldChg chg="modAnim">
        <pc:chgData name="Anton Vasilyev" userId="c9a2c3308cbc88f4" providerId="LiveId" clId="{3386B79A-5EF5-48B7-B68D-45D5C6AAF081}" dt="2023-02-05T19:58:29.761" v="7"/>
        <pc:sldMkLst>
          <pc:docMk/>
          <pc:sldMk cId="2323276434" sldId="260"/>
        </pc:sldMkLst>
      </pc:sldChg>
      <pc:sldChg chg="modAnim">
        <pc:chgData name="Anton Vasilyev" userId="c9a2c3308cbc88f4" providerId="LiveId" clId="{3386B79A-5EF5-48B7-B68D-45D5C6AAF081}" dt="2023-02-05T19:56:59.192" v="4"/>
        <pc:sldMkLst>
          <pc:docMk/>
          <pc:sldMk cId="3094037597" sldId="262"/>
        </pc:sldMkLst>
      </pc:sldChg>
      <pc:sldChg chg="modAnim">
        <pc:chgData name="Anton Vasilyev" userId="c9a2c3308cbc88f4" providerId="LiveId" clId="{3386B79A-5EF5-48B7-B68D-45D5C6AAF081}" dt="2023-02-05T19:57:04.520" v="5"/>
        <pc:sldMkLst>
          <pc:docMk/>
          <pc:sldMk cId="1668734427" sldId="263"/>
        </pc:sldMkLst>
      </pc:sldChg>
      <pc:sldChg chg="modAnim">
        <pc:chgData name="Anton Vasilyev" userId="c9a2c3308cbc88f4" providerId="LiveId" clId="{3386B79A-5EF5-48B7-B68D-45D5C6AAF081}" dt="2023-02-05T19:58:24.608" v="6"/>
        <pc:sldMkLst>
          <pc:docMk/>
          <pc:sldMk cId="154565668" sldId="264"/>
        </pc:sldMkLst>
      </pc:sldChg>
      <pc:sldChg chg="modAnim">
        <pc:chgData name="Anton Vasilyev" userId="c9a2c3308cbc88f4" providerId="LiveId" clId="{3386B79A-5EF5-48B7-B68D-45D5C6AAF081}" dt="2023-02-05T19:58:40.512" v="8"/>
        <pc:sldMkLst>
          <pc:docMk/>
          <pc:sldMk cId="2024789541" sldId="267"/>
        </pc:sldMkLst>
      </pc:sldChg>
      <pc:sldChg chg="modAnim">
        <pc:chgData name="Anton Vasilyev" userId="c9a2c3308cbc88f4" providerId="LiveId" clId="{3386B79A-5EF5-48B7-B68D-45D5C6AAF081}" dt="2023-02-05T19:59:02.504" v="13"/>
        <pc:sldMkLst>
          <pc:docMk/>
          <pc:sldMk cId="3234011780" sldId="303"/>
        </pc:sldMkLst>
      </pc:sldChg>
      <pc:sldChg chg="modAnim">
        <pc:chgData name="Anton Vasilyev" userId="c9a2c3308cbc88f4" providerId="LiveId" clId="{3386B79A-5EF5-48B7-B68D-45D5C6AAF081}" dt="2023-02-05T19:56:12.256" v="0"/>
        <pc:sldMkLst>
          <pc:docMk/>
          <pc:sldMk cId="2534972340" sldId="305"/>
        </pc:sldMkLst>
      </pc:sldChg>
      <pc:sldChg chg="modAnim">
        <pc:chgData name="Anton Vasilyev" userId="c9a2c3308cbc88f4" providerId="LiveId" clId="{3386B79A-5EF5-48B7-B68D-45D5C6AAF081}" dt="2023-02-05T19:58:44.832" v="9"/>
        <pc:sldMkLst>
          <pc:docMk/>
          <pc:sldMk cId="109133310" sldId="306"/>
        </pc:sldMkLst>
      </pc:sldChg>
      <pc:sldChg chg="modAnim">
        <pc:chgData name="Anton Vasilyev" userId="c9a2c3308cbc88f4" providerId="LiveId" clId="{3386B79A-5EF5-48B7-B68D-45D5C6AAF081}" dt="2023-02-05T19:58:49.416" v="10"/>
        <pc:sldMkLst>
          <pc:docMk/>
          <pc:sldMk cId="3815415688" sldId="307"/>
        </pc:sldMkLst>
      </pc:sldChg>
      <pc:sldChg chg="modAnim">
        <pc:chgData name="Anton Vasilyev" userId="c9a2c3308cbc88f4" providerId="LiveId" clId="{3386B79A-5EF5-48B7-B68D-45D5C6AAF081}" dt="2023-02-05T19:58:53.712" v="11"/>
        <pc:sldMkLst>
          <pc:docMk/>
          <pc:sldMk cId="1582738488" sldId="308"/>
        </pc:sldMkLst>
      </pc:sldChg>
      <pc:sldChg chg="modAnim">
        <pc:chgData name="Anton Vasilyev" userId="c9a2c3308cbc88f4" providerId="LiveId" clId="{3386B79A-5EF5-48B7-B68D-45D5C6AAF081}" dt="2023-02-05T19:58:58.592" v="12"/>
        <pc:sldMkLst>
          <pc:docMk/>
          <pc:sldMk cId="3660104045" sldId="309"/>
        </pc:sldMkLst>
      </pc:sldChg>
    </pc:docChg>
  </pc:docChgLst>
  <pc:docChgLst>
    <pc:chgData name="Anton Vasilyev" userId="c9a2c3308cbc88f4" providerId="LiveId" clId="{FEDA38EF-B630-40AE-B29A-67B8CA41D4F2}"/>
    <pc:docChg chg="custSel delSld modSld">
      <pc:chgData name="Anton Vasilyev" userId="c9a2c3308cbc88f4" providerId="LiveId" clId="{FEDA38EF-B630-40AE-B29A-67B8CA41D4F2}" dt="2023-02-04T16:42:12.035" v="364" actId="20577"/>
      <pc:docMkLst>
        <pc:docMk/>
      </pc:docMkLst>
      <pc:sldChg chg="modSp mod">
        <pc:chgData name="Anton Vasilyev" userId="c9a2c3308cbc88f4" providerId="LiveId" clId="{FEDA38EF-B630-40AE-B29A-67B8CA41D4F2}" dt="2023-02-04T16:40:21.139" v="10" actId="20577"/>
        <pc:sldMkLst>
          <pc:docMk/>
          <pc:sldMk cId="109857222" sldId="256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945272560" sldId="269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672457300" sldId="27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028285975" sldId="27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009522904" sldId="273"/>
        </pc:sldMkLst>
      </pc:sldChg>
      <pc:sldChg chg="modSp mod">
        <pc:chgData name="Anton Vasilyev" userId="c9a2c3308cbc88f4" providerId="LiveId" clId="{FEDA38EF-B630-40AE-B29A-67B8CA41D4F2}" dt="2023-02-04T16:42:12.035" v="364" actId="20577"/>
        <pc:sldMkLst>
          <pc:docMk/>
          <pc:sldMk cId="3234011780" sldId="303"/>
        </pc:sldMkLst>
      </pc:sldChg>
      <pc:sldChg chg="del">
        <pc:chgData name="Anton Vasilyev" userId="c9a2c3308cbc88f4" providerId="LiveId" clId="{FEDA38EF-B630-40AE-B29A-67B8CA41D4F2}" dt="2023-02-04T16:39:39.628" v="0" actId="2696"/>
        <pc:sldMkLst>
          <pc:docMk/>
          <pc:sldMk cId="621353742" sldId="30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183563235" sldId="310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047985178" sldId="31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677533097" sldId="31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955119190" sldId="313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677972372" sldId="31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740205360" sldId="315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110677521" sldId="316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919062890" sldId="317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196236977" sldId="318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919403923" sldId="319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080387400" sldId="320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1201633" sldId="32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984271710" sldId="32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373405479" sldId="323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310179085" sldId="32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422144707" sldId="325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770868458" sldId="326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519347594" sldId="327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704717991" sldId="328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113330323" sldId="329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2515457032" sldId="330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4189737549" sldId="331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166477713" sldId="332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464958213" sldId="333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722468750" sldId="334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3010912533" sldId="335"/>
        </pc:sldMkLst>
      </pc:sldChg>
      <pc:sldChg chg="del">
        <pc:chgData name="Anton Vasilyev" userId="c9a2c3308cbc88f4" providerId="LiveId" clId="{FEDA38EF-B630-40AE-B29A-67B8CA41D4F2}" dt="2023-02-04T16:39:53.109" v="1" actId="47"/>
        <pc:sldMkLst>
          <pc:docMk/>
          <pc:sldMk cId="1555568497" sldId="336"/>
        </pc:sldMkLst>
      </pc:sldChg>
      <pc:sldChg chg="del">
        <pc:chgData name="Anton Vasilyev" userId="c9a2c3308cbc88f4" providerId="LiveId" clId="{FEDA38EF-B630-40AE-B29A-67B8CA41D4F2}" dt="2023-02-04T16:40:12.792" v="3" actId="2696"/>
        <pc:sldMkLst>
          <pc:docMk/>
          <pc:sldMk cId="1765748564" sldId="337"/>
        </pc:sldMkLst>
      </pc:sldChg>
    </pc:docChg>
  </pc:docChgLst>
  <pc:docChgLst>
    <pc:chgData name="Anton Vasilyev" userId="c9a2c3308cbc88f4" providerId="LiveId" clId="{0AAF64E0-E02F-493A-9281-35C2AB51373B}"/>
    <pc:docChg chg="modSld">
      <pc:chgData name="Anton Vasilyev" userId="c9a2c3308cbc88f4" providerId="LiveId" clId="{0AAF64E0-E02F-493A-9281-35C2AB51373B}" dt="2026-02-04T22:14:53.292" v="15" actId="20577"/>
      <pc:docMkLst>
        <pc:docMk/>
      </pc:docMkLst>
      <pc:sldChg chg="modSp">
        <pc:chgData name="Anton Vasilyev" userId="c9a2c3308cbc88f4" providerId="LiveId" clId="{0AAF64E0-E02F-493A-9281-35C2AB51373B}" dt="2026-02-04T22:14:53.292" v="15" actId="20577"/>
        <pc:sldMkLst>
          <pc:docMk/>
          <pc:sldMk cId="3234011780" sldId="303"/>
        </pc:sldMkLst>
        <pc:spChg chg="mod">
          <ac:chgData name="Anton Vasilyev" userId="c9a2c3308cbc88f4" providerId="LiveId" clId="{0AAF64E0-E02F-493A-9281-35C2AB51373B}" dt="2026-02-04T22:14:53.292" v="15" actId="20577"/>
          <ac:spMkLst>
            <pc:docMk/>
            <pc:sldMk cId="3234011780" sldId="303"/>
            <ac:spMk id="3" creationId="{6EB5EA79-2747-4663-9DD7-388DB5EDF6F6}"/>
          </ac:spMkLst>
        </pc:spChg>
      </pc:sldChg>
      <pc:sldChg chg="modSp">
        <pc:chgData name="Anton Vasilyev" userId="c9a2c3308cbc88f4" providerId="LiveId" clId="{0AAF64E0-E02F-493A-9281-35C2AB51373B}" dt="2026-02-04T22:14:25.399" v="3" actId="313"/>
        <pc:sldMkLst>
          <pc:docMk/>
          <pc:sldMk cId="3660104045" sldId="309"/>
        </pc:sldMkLst>
        <pc:spChg chg="mod">
          <ac:chgData name="Anton Vasilyev" userId="c9a2c3308cbc88f4" providerId="LiveId" clId="{0AAF64E0-E02F-493A-9281-35C2AB51373B}" dt="2026-02-04T22:14:25.399" v="3" actId="313"/>
          <ac:spMkLst>
            <pc:docMk/>
            <pc:sldMk cId="3660104045" sldId="309"/>
            <ac:spMk id="3" creationId="{6EB5EA79-2747-4663-9DD7-388DB5EDF6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30CF44-DE88-4EFB-8C02-2B59DF863BD0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29A747-30AA-4EF0-91CB-8A379063F1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42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640К как-то не хватает =)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113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Еще веселее, когда к этому добавляется звуковая карта =) В итоге большинство старых игр для </a:t>
            </a:r>
            <a:r>
              <a:rPr lang="en-US" dirty="0"/>
              <a:t>MS-DOS </a:t>
            </a:r>
            <a:r>
              <a:rPr lang="ru-RU" dirty="0"/>
              <a:t>работают в режиме</a:t>
            </a:r>
            <a:r>
              <a:rPr lang="en-US" dirty="0"/>
              <a:t> VGA – 320 </a:t>
            </a:r>
            <a:r>
              <a:rPr lang="ru-RU" dirty="0"/>
              <a:t>на 200, 256 цветов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1440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такое многозадачность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13699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8726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131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6671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2058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3878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8269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24588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41414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2303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835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B984AB-7A32-44A8-A618-498D67B6BB5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45264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velib.ru/book/1000253771-assembler-uchebnyj-kurs-disketa-sbornik-v-i-yurov" TargetMode="External"/><Relationship Id="rId7" Type="http://schemas.openxmlformats.org/officeDocument/2006/relationships/hyperlink" Target="https://developer.amd.com/wordpress/media/2013/10/SI_3D_registers.pdf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windows-hardware/drivers/ddi/_display/" TargetMode="External"/><Relationship Id="rId5" Type="http://schemas.openxmlformats.org/officeDocument/2006/relationships/hyperlink" Target="https://www.ozon.ru/product/sovremennye-operatsionnye-sistemy-148011280/?sh=CMQgUZJiOg" TargetMode="External"/><Relationship Id="rId4" Type="http://schemas.openxmlformats.org/officeDocument/2006/relationships/hyperlink" Target="https://www.amazon.com/Zen-Graphics-Programming-Ultimate-Writing/dp/188357708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45809"/>
            <a:ext cx="9144000" cy="1564716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ea typeface="+mj-lt"/>
                <a:cs typeface="+mj-lt"/>
              </a:rPr>
              <a:t>Глава</a:t>
            </a:r>
            <a:r>
              <a:rPr lang="en-US" sz="4800" dirty="0">
                <a:ea typeface="+mj-lt"/>
                <a:cs typeface="+mj-lt"/>
              </a:rPr>
              <a:t> 1. </a:t>
            </a:r>
            <a:r>
              <a:rPr lang="ru-RU" sz="4800" dirty="0">
                <a:ea typeface="+mj-lt"/>
                <a:cs typeface="+mj-lt"/>
              </a:rPr>
              <a:t>История</a:t>
            </a:r>
            <a:endParaRPr lang="en-US" sz="4800" dirty="0"/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C66F2F30-5DC0-44A0-BFA6-E12F46ED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920619" cy="2130951"/>
          </a:xfrm>
          <a:custGeom>
            <a:avLst/>
            <a:gdLst>
              <a:gd name="connsiteX0" fmla="*/ 0 w 5920619"/>
              <a:gd name="connsiteY0" fmla="*/ 0 h 2130951"/>
              <a:gd name="connsiteX1" fmla="*/ 3191370 w 5920619"/>
              <a:gd name="connsiteY1" fmla="*/ 0 h 2130951"/>
              <a:gd name="connsiteX2" fmla="*/ 3346315 w 5920619"/>
              <a:gd name="connsiteY2" fmla="*/ 0 h 2130951"/>
              <a:gd name="connsiteX3" fmla="*/ 5920619 w 5920619"/>
              <a:gd name="connsiteY3" fmla="*/ 0 h 2130951"/>
              <a:gd name="connsiteX4" fmla="*/ 4936971 w 5920619"/>
              <a:gd name="connsiteY4" fmla="*/ 2130951 h 2130951"/>
              <a:gd name="connsiteX5" fmla="*/ 0 w 5920619"/>
              <a:gd name="connsiteY5" fmla="*/ 2130951 h 2130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20619" h="2130951">
                <a:moveTo>
                  <a:pt x="0" y="0"/>
                </a:moveTo>
                <a:lnTo>
                  <a:pt x="3191370" y="0"/>
                </a:lnTo>
                <a:lnTo>
                  <a:pt x="3346315" y="0"/>
                </a:lnTo>
                <a:lnTo>
                  <a:pt x="5920619" y="0"/>
                </a:lnTo>
                <a:lnTo>
                  <a:pt x="4936971" y="2130951"/>
                </a:lnTo>
                <a:lnTo>
                  <a:pt x="0" y="2130951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 21">
            <a:extLst>
              <a:ext uri="{FF2B5EF4-FFF2-40B4-BE49-F238E27FC236}">
                <a16:creationId xmlns:a16="http://schemas.microsoft.com/office/drawing/2014/main" id="{85872F57-7F42-4F97-8391-DDC8D0054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7839" y="0"/>
            <a:ext cx="7094160" cy="2130952"/>
          </a:xfrm>
          <a:custGeom>
            <a:avLst/>
            <a:gdLst>
              <a:gd name="connsiteX0" fmla="*/ 4417853 w 7094160"/>
              <a:gd name="connsiteY0" fmla="*/ 0 h 2130952"/>
              <a:gd name="connsiteX1" fmla="*/ 7094160 w 7094160"/>
              <a:gd name="connsiteY1" fmla="*/ 0 h 2130952"/>
              <a:gd name="connsiteX2" fmla="*/ 7094160 w 7094160"/>
              <a:gd name="connsiteY2" fmla="*/ 2130552 h 2130952"/>
              <a:gd name="connsiteX3" fmla="*/ 5920619 w 7094160"/>
              <a:gd name="connsiteY3" fmla="*/ 2130552 h 2130952"/>
              <a:gd name="connsiteX4" fmla="*/ 5920619 w 7094160"/>
              <a:gd name="connsiteY4" fmla="*/ 2130952 h 2130952"/>
              <a:gd name="connsiteX5" fmla="*/ 2729249 w 7094160"/>
              <a:gd name="connsiteY5" fmla="*/ 2130952 h 2130952"/>
              <a:gd name="connsiteX6" fmla="*/ 2574304 w 7094160"/>
              <a:gd name="connsiteY6" fmla="*/ 2130952 h 2130952"/>
              <a:gd name="connsiteX7" fmla="*/ 0 w 7094160"/>
              <a:gd name="connsiteY7" fmla="*/ 2130952 h 2130952"/>
              <a:gd name="connsiteX8" fmla="*/ 983648 w 7094160"/>
              <a:gd name="connsiteY8" fmla="*/ 1 h 2130952"/>
              <a:gd name="connsiteX9" fmla="*/ 4417853 w 7094160"/>
              <a:gd name="connsiteY9" fmla="*/ 1 h 2130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94160" h="2130952">
                <a:moveTo>
                  <a:pt x="4417853" y="0"/>
                </a:moveTo>
                <a:lnTo>
                  <a:pt x="7094160" y="0"/>
                </a:lnTo>
                <a:lnTo>
                  <a:pt x="7094160" y="2130552"/>
                </a:lnTo>
                <a:lnTo>
                  <a:pt x="5920619" y="2130552"/>
                </a:lnTo>
                <a:lnTo>
                  <a:pt x="5920619" y="2130952"/>
                </a:lnTo>
                <a:lnTo>
                  <a:pt x="2729249" y="2130952"/>
                </a:lnTo>
                <a:lnTo>
                  <a:pt x="2574304" y="2130952"/>
                </a:lnTo>
                <a:lnTo>
                  <a:pt x="0" y="2130952"/>
                </a:lnTo>
                <a:lnTo>
                  <a:pt x="983648" y="1"/>
                </a:lnTo>
                <a:lnTo>
                  <a:pt x="4417853" y="1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04DC2037-48A0-4F22-B9D4-8EAEBC780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49721" y="4682920"/>
            <a:ext cx="4522796" cy="2175080"/>
          </a:xfrm>
          <a:custGeom>
            <a:avLst/>
            <a:gdLst>
              <a:gd name="connsiteX0" fmla="*/ 3515449 w 4522796"/>
              <a:gd name="connsiteY0" fmla="*/ 0 h 2175080"/>
              <a:gd name="connsiteX1" fmla="*/ 0 w 4522796"/>
              <a:gd name="connsiteY1" fmla="*/ 0 h 2175080"/>
              <a:gd name="connsiteX2" fmla="*/ 0 w 4522796"/>
              <a:gd name="connsiteY2" fmla="*/ 2175080 h 2175080"/>
              <a:gd name="connsiteX3" fmla="*/ 4522796 w 4522796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2796" h="2175080">
                <a:moveTo>
                  <a:pt x="3515449" y="0"/>
                </a:moveTo>
                <a:lnTo>
                  <a:pt x="0" y="0"/>
                </a:lnTo>
                <a:lnTo>
                  <a:pt x="0" y="2175080"/>
                </a:lnTo>
                <a:lnTo>
                  <a:pt x="4522796" y="217508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1"/>
          </a:p>
        </p:txBody>
      </p:sp>
      <p:sp>
        <p:nvSpPr>
          <p:cNvPr id="13" name="Freeform 22">
            <a:extLst>
              <a:ext uri="{FF2B5EF4-FFF2-40B4-BE49-F238E27FC236}">
                <a16:creationId xmlns:a16="http://schemas.microsoft.com/office/drawing/2014/main" id="{0006CBFD-ADA0-43D1-9332-9C34CA1C7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66810" y="4682920"/>
            <a:ext cx="5925190" cy="2175080"/>
          </a:xfrm>
          <a:custGeom>
            <a:avLst/>
            <a:gdLst>
              <a:gd name="connsiteX0" fmla="*/ 1007347 w 5925190"/>
              <a:gd name="connsiteY0" fmla="*/ 0 h 2175080"/>
              <a:gd name="connsiteX1" fmla="*/ 5925190 w 5925190"/>
              <a:gd name="connsiteY1" fmla="*/ 0 h 2175080"/>
              <a:gd name="connsiteX2" fmla="*/ 5925190 w 5925190"/>
              <a:gd name="connsiteY2" fmla="*/ 2175080 h 2175080"/>
              <a:gd name="connsiteX3" fmla="*/ 0 w 5925190"/>
              <a:gd name="connsiteY3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5190" h="2175080">
                <a:moveTo>
                  <a:pt x="1007347" y="0"/>
                </a:moveTo>
                <a:lnTo>
                  <a:pt x="5925190" y="0"/>
                </a:lnTo>
                <a:lnTo>
                  <a:pt x="5925190" y="2175080"/>
                </a:lnTo>
                <a:lnTo>
                  <a:pt x="0" y="217508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 25">
            <a:extLst>
              <a:ext uri="{FF2B5EF4-FFF2-40B4-BE49-F238E27FC236}">
                <a16:creationId xmlns:a16="http://schemas.microsoft.com/office/drawing/2014/main" id="{2B931666-F28F-45F3-A074-66D2272D5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82920"/>
            <a:ext cx="7114535" cy="2175080"/>
          </a:xfrm>
          <a:custGeom>
            <a:avLst/>
            <a:gdLst>
              <a:gd name="connsiteX0" fmla="*/ 0 w 7114535"/>
              <a:gd name="connsiteY0" fmla="*/ 0 h 2175080"/>
              <a:gd name="connsiteX1" fmla="*/ 1189345 w 7114535"/>
              <a:gd name="connsiteY1" fmla="*/ 0 h 2175080"/>
              <a:gd name="connsiteX2" fmla="*/ 7114535 w 7114535"/>
              <a:gd name="connsiteY2" fmla="*/ 0 h 2175080"/>
              <a:gd name="connsiteX3" fmla="*/ 6107188 w 7114535"/>
              <a:gd name="connsiteY3" fmla="*/ 2175080 h 2175080"/>
              <a:gd name="connsiteX4" fmla="*/ 1189345 w 7114535"/>
              <a:gd name="connsiteY4" fmla="*/ 2175080 h 2175080"/>
              <a:gd name="connsiteX5" fmla="*/ 0 w 7114535"/>
              <a:gd name="connsiteY5" fmla="*/ 2175080 h 217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4535" h="2175080">
                <a:moveTo>
                  <a:pt x="0" y="0"/>
                </a:moveTo>
                <a:lnTo>
                  <a:pt x="1189345" y="0"/>
                </a:lnTo>
                <a:lnTo>
                  <a:pt x="7114535" y="0"/>
                </a:lnTo>
                <a:lnTo>
                  <a:pt x="6107188" y="2175080"/>
                </a:lnTo>
                <a:lnTo>
                  <a:pt x="1189345" y="2175080"/>
                </a:lnTo>
                <a:lnTo>
                  <a:pt x="0" y="2175080"/>
                </a:lnTo>
                <a:close/>
              </a:path>
            </a:pathLst>
          </a:custGeom>
          <a:solidFill>
            <a:srgbClr val="7F7F7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Разработка графики под </a:t>
            </a:r>
            <a:r>
              <a:rPr lang="en-US" dirty="0"/>
              <a:t>MS-DOS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cs typeface="Calibri"/>
              </a:rPr>
              <a:t>Одноядерные компьютеры</a:t>
            </a:r>
          </a:p>
          <a:p>
            <a:r>
              <a:rPr lang="ru-RU" sz="2400" dirty="0">
                <a:cs typeface="Calibri"/>
              </a:rPr>
              <a:t>Нет графического ускорителя</a:t>
            </a:r>
          </a:p>
          <a:p>
            <a:r>
              <a:rPr lang="ru-RU" sz="2400" dirty="0">
                <a:cs typeface="Calibri"/>
              </a:rPr>
              <a:t>Все графика в главном потоке, там же, где логика самой игры</a:t>
            </a:r>
          </a:p>
          <a:p>
            <a:r>
              <a:rPr lang="ru-RU" sz="2400" dirty="0">
                <a:cs typeface="Calibri"/>
              </a:rPr>
              <a:t>Требуется максимальная производительность</a:t>
            </a:r>
          </a:p>
          <a:p>
            <a:r>
              <a:rPr lang="ru-RU" sz="2400" dirty="0">
                <a:cs typeface="Calibri"/>
              </a:rPr>
              <a:t>Наиболее популярная операция – вывод на экран спрайта</a:t>
            </a:r>
          </a:p>
          <a:p>
            <a:r>
              <a:rPr lang="ru-RU" sz="2400" dirty="0">
                <a:cs typeface="Calibri"/>
              </a:rPr>
              <a:t>Задача решается </a:t>
            </a:r>
            <a:r>
              <a:rPr lang="en-US" sz="2400" dirty="0">
                <a:cs typeface="Calibri"/>
              </a:rPr>
              <a:t>“</a:t>
            </a:r>
            <a:r>
              <a:rPr lang="ru-RU" sz="2400" dirty="0">
                <a:cs typeface="Calibri"/>
              </a:rPr>
              <a:t>прямым доступом</a:t>
            </a:r>
            <a:r>
              <a:rPr lang="en-US" sz="2400" dirty="0">
                <a:cs typeface="Calibri"/>
              </a:rPr>
              <a:t>”</a:t>
            </a:r>
            <a:r>
              <a:rPr lang="ru-RU" sz="2400" dirty="0">
                <a:cs typeface="Calibri"/>
              </a:rPr>
              <a:t> к железу</a:t>
            </a:r>
          </a:p>
          <a:p>
            <a:pPr lvl="1"/>
            <a:endParaRPr lang="ru-RU" sz="20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497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Отрисовка спрайта в режиме 640</a:t>
            </a:r>
            <a:r>
              <a:rPr lang="en-US" dirty="0"/>
              <a:t>x480, 256 </a:t>
            </a:r>
            <a:r>
              <a:rPr lang="ru-RU" dirty="0"/>
              <a:t>цветов (</a:t>
            </a:r>
            <a:r>
              <a:rPr lang="en-US" dirty="0"/>
              <a:t>SVGA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sz="2400" dirty="0">
                <a:cs typeface="Calibri"/>
              </a:rPr>
              <a:t>Определить адрес спрайта в расширенной памяти</a:t>
            </a:r>
          </a:p>
          <a:p>
            <a:r>
              <a:rPr lang="ru-RU" sz="2400" dirty="0">
                <a:cs typeface="Calibri"/>
              </a:rPr>
              <a:t>Отобразить нужную страницу расширенной памяти в физическую память</a:t>
            </a:r>
          </a:p>
          <a:p>
            <a:r>
              <a:rPr lang="ru-RU" sz="2400" dirty="0">
                <a:cs typeface="Calibri"/>
              </a:rPr>
              <a:t>Определить банк памяти экранного буфера</a:t>
            </a:r>
          </a:p>
          <a:p>
            <a:r>
              <a:rPr lang="ru-RU" sz="2400" dirty="0">
                <a:cs typeface="Calibri"/>
              </a:rPr>
              <a:t>Отобразить нужный банк памяти в физическую память</a:t>
            </a:r>
          </a:p>
          <a:p>
            <a:r>
              <a:rPr lang="ru-RU" sz="2400" dirty="0">
                <a:cs typeface="Calibri"/>
              </a:rPr>
              <a:t>Скопировать первую строку спрайта в память экранного буфера при помощи цепочечной команды, обработав ситуацию, когда достигнута граница банка или страницы расширенной памяти</a:t>
            </a:r>
          </a:p>
          <a:p>
            <a:r>
              <a:rPr lang="ru-RU" sz="2400" dirty="0">
                <a:cs typeface="Calibri"/>
              </a:rPr>
              <a:t>Перейти к следующей строке спрайта и экранного буфера</a:t>
            </a:r>
          </a:p>
          <a:p>
            <a:r>
              <a:rPr lang="ru-RU" sz="2400" dirty="0">
                <a:cs typeface="Calibri"/>
              </a:rPr>
              <a:t>Повторить =)</a:t>
            </a:r>
            <a:endParaRPr lang="ru-RU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1270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Отрисовка спрайта в режиме 640</a:t>
            </a:r>
            <a:r>
              <a:rPr lang="en-US" dirty="0"/>
              <a:t>x480, 256 </a:t>
            </a:r>
            <a:r>
              <a:rPr lang="ru-RU" dirty="0"/>
              <a:t>цветов (</a:t>
            </a:r>
            <a:r>
              <a:rPr lang="en-US" dirty="0"/>
              <a:t>SVGA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571817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Функция на 600+ строк ассемблерного кода</a:t>
            </a:r>
          </a:p>
          <a:p>
            <a:r>
              <a:rPr lang="ru-RU" dirty="0">
                <a:cs typeface="Calibri"/>
              </a:rPr>
              <a:t>Только для одного режима, только для некоторых адаптеров, поддерживающих стандарт </a:t>
            </a:r>
            <a:r>
              <a:rPr lang="en-US" dirty="0">
                <a:cs typeface="Calibri"/>
              </a:rPr>
              <a:t>VESA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Подробнее про Ассемблер</a:t>
            </a:r>
            <a:r>
              <a:rPr lang="en-US" baseline="30000" dirty="0">
                <a:cs typeface="Calibri"/>
                <a:hlinkClick r:id="" action="ppaction://noaction"/>
              </a:rPr>
              <a:t>[1]</a:t>
            </a:r>
            <a:endParaRPr lang="en-US" baseline="30000" dirty="0">
              <a:cs typeface="Calibri"/>
            </a:endParaRPr>
          </a:p>
          <a:p>
            <a:r>
              <a:rPr lang="ru-RU" dirty="0">
                <a:cs typeface="Calibri"/>
              </a:rPr>
              <a:t>Подробнее про графику под </a:t>
            </a:r>
            <a:r>
              <a:rPr lang="en-US" dirty="0">
                <a:cs typeface="Calibri"/>
              </a:rPr>
              <a:t>MS-DOS</a:t>
            </a:r>
            <a:r>
              <a:rPr lang="en-US" baseline="30000" dirty="0">
                <a:cs typeface="Calibri"/>
                <a:hlinkClick r:id="" action="ppaction://noaction"/>
              </a:rPr>
              <a:t>[2]</a:t>
            </a:r>
            <a:endParaRPr lang="ru-RU" baseline="30000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275514-1D8A-41C4-8991-7FE66BA70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384" y="2504106"/>
            <a:ext cx="3379182" cy="278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27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Персональный компьютер, как инструмент для работы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Бухгалтер работает с калькулятором, счетами, письмами, таблицами</a:t>
            </a:r>
          </a:p>
          <a:p>
            <a:r>
              <a:rPr lang="ru-RU" dirty="0">
                <a:cs typeface="Calibri"/>
              </a:rPr>
              <a:t>Компьютер без оконного интерфейса может заменить что-то одно</a:t>
            </a:r>
          </a:p>
          <a:p>
            <a:r>
              <a:rPr lang="ru-RU" dirty="0">
                <a:cs typeface="Calibri"/>
              </a:rPr>
              <a:t>А хотелось бы, чтобы сразу все + синергию от такого решения (данные между инструментами не нужно переносить вручную)</a:t>
            </a:r>
          </a:p>
          <a:p>
            <a:r>
              <a:rPr lang="ru-RU" dirty="0">
                <a:cs typeface="Calibri"/>
              </a:rPr>
              <a:t>Возникает потребность в оконных интерфейсах и многозадачных ОС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37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Многозадачная ОС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dirty="0">
                <a:cs typeface="Calibri"/>
              </a:rPr>
              <a:t>Если приложения имеют доступ к физической памяти, они могут залезть в память друг к другу</a:t>
            </a:r>
          </a:p>
          <a:p>
            <a:r>
              <a:rPr lang="ru-RU" dirty="0">
                <a:cs typeface="Calibri"/>
              </a:rPr>
              <a:t>Чтобы этого избежать, существует реализованный на аппаратном уровне защищенный режим работы</a:t>
            </a:r>
          </a:p>
          <a:p>
            <a:r>
              <a:rPr lang="ru-RU" dirty="0">
                <a:cs typeface="Calibri"/>
              </a:rPr>
              <a:t>Приложения работают с виртуальной памятью</a:t>
            </a:r>
          </a:p>
          <a:p>
            <a:r>
              <a:rPr lang="ru-RU" dirty="0">
                <a:cs typeface="Calibri"/>
              </a:rPr>
              <a:t>Доступа к физической памяти нет, напрямую к железу тоже</a:t>
            </a:r>
          </a:p>
          <a:p>
            <a:r>
              <a:rPr lang="ru-RU" dirty="0">
                <a:cs typeface="Calibri"/>
              </a:rPr>
              <a:t>Подробнее у Таненбаума</a:t>
            </a:r>
            <a:r>
              <a:rPr lang="en-US" baseline="30000" dirty="0">
                <a:cs typeface="Calibri"/>
                <a:hlinkClick r:id="" action="ppaction://noaction"/>
              </a:rPr>
              <a:t>[3]</a:t>
            </a:r>
            <a:endParaRPr lang="ru-RU" baseline="30000" dirty="0">
              <a:cs typeface="Calibri"/>
            </a:endParaRPr>
          </a:p>
          <a:p>
            <a:r>
              <a:rPr lang="ru-RU" b="1" dirty="0">
                <a:cs typeface="Calibri"/>
              </a:rPr>
              <a:t>Противоречие: ПК как инструмент против ПК для игр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873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Библиотека </a:t>
            </a:r>
            <a:r>
              <a:rPr lang="en-US" dirty="0"/>
              <a:t>GDI </a:t>
            </a:r>
            <a:r>
              <a:rPr lang="ru-RU" dirty="0"/>
              <a:t>под </a:t>
            </a:r>
            <a:r>
              <a:rPr lang="en-US" dirty="0"/>
              <a:t>Windows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6424559" cy="404164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dirty="0">
                <a:cs typeface="Calibri"/>
              </a:rPr>
              <a:t>Поддержка кистей и стиля линий</a:t>
            </a:r>
          </a:p>
          <a:p>
            <a:r>
              <a:rPr lang="ru-RU" dirty="0">
                <a:cs typeface="Calibri"/>
              </a:rPr>
              <a:t>Шрифты и вывод текста</a:t>
            </a:r>
          </a:p>
          <a:p>
            <a:r>
              <a:rPr lang="ru-RU" dirty="0">
                <a:cs typeface="Calibri"/>
              </a:rPr>
              <a:t>Графические примитивы</a:t>
            </a:r>
          </a:p>
          <a:p>
            <a:r>
              <a:rPr lang="ru-RU" dirty="0">
                <a:cs typeface="Calibri"/>
              </a:rPr>
              <a:t>Единый </a:t>
            </a:r>
            <a:r>
              <a:rPr lang="en-US" dirty="0">
                <a:cs typeface="Calibri"/>
              </a:rPr>
              <a:t>API </a:t>
            </a:r>
            <a:r>
              <a:rPr lang="ru-RU" dirty="0">
                <a:cs typeface="Calibri"/>
              </a:rPr>
              <a:t>для монитора, принтера и так далее</a:t>
            </a:r>
          </a:p>
          <a:p>
            <a:r>
              <a:rPr lang="ru-RU" dirty="0">
                <a:cs typeface="Calibri"/>
              </a:rPr>
              <a:t>Мощная</a:t>
            </a:r>
          </a:p>
          <a:p>
            <a:r>
              <a:rPr lang="ru-RU" dirty="0">
                <a:cs typeface="Calibri"/>
              </a:rPr>
              <a:t>Гибкая</a:t>
            </a:r>
          </a:p>
          <a:p>
            <a:r>
              <a:rPr lang="ru-RU" dirty="0">
                <a:cs typeface="Calibri"/>
              </a:rPr>
              <a:t>Универсальная</a:t>
            </a:r>
          </a:p>
          <a:p>
            <a:r>
              <a:rPr lang="ru-RU" b="1" dirty="0">
                <a:cs typeface="Calibri"/>
              </a:rPr>
              <a:t>Тормозная =(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 descr="GDI Drawing Example, VC++ Source Code, Download, Draw Clock Tool">
            <a:extLst>
              <a:ext uri="{FF2B5EF4-FFF2-40B4-BE49-F238E27FC236}">
                <a16:creationId xmlns:a16="http://schemas.microsoft.com/office/drawing/2014/main" id="{6CD5ED56-4D74-44DC-824C-5ED8C5753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0612" y="2176272"/>
            <a:ext cx="2543175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82BAA76B-7B28-429A-BE34-4FB4954A2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93583" y="4330212"/>
            <a:ext cx="2543175" cy="147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6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Идея</a:t>
            </a:r>
            <a:r>
              <a:rPr lang="en-US" dirty="0"/>
              <a:t> </a:t>
            </a:r>
            <a:r>
              <a:rPr lang="ru-RU" dirty="0"/>
              <a:t>аналога прямого доступа в защищенном режиме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5C15440-65CC-4317-89E2-E8C6BFEAC9A7}"/>
              </a:ext>
            </a:extLst>
          </p:cNvPr>
          <p:cNvGrpSpPr/>
          <p:nvPr/>
        </p:nvGrpSpPr>
        <p:grpSpPr>
          <a:xfrm>
            <a:off x="971654" y="1920240"/>
            <a:ext cx="5521070" cy="4261329"/>
            <a:chOff x="3484254" y="1838731"/>
            <a:chExt cx="5521070" cy="4261329"/>
          </a:xfrm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B738E5E8-14FB-4FEF-B9E9-182C0F544F37}"/>
                </a:ext>
              </a:extLst>
            </p:cNvPr>
            <p:cNvSpPr/>
            <p:nvPr/>
          </p:nvSpPr>
          <p:spPr>
            <a:xfrm>
              <a:off x="5578575" y="1838731"/>
              <a:ext cx="1516777" cy="628380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Программа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A843F6D9-C3F6-4ED3-A64E-5AE5BA2B18D0}"/>
                </a:ext>
              </a:extLst>
            </p:cNvPr>
            <p:cNvSpPr/>
            <p:nvPr/>
          </p:nvSpPr>
          <p:spPr>
            <a:xfrm>
              <a:off x="5578574" y="2896864"/>
              <a:ext cx="1516777" cy="628380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API</a:t>
              </a: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2D4375E4-453C-4A91-84F1-BE7241D5853F}"/>
                </a:ext>
              </a:extLst>
            </p:cNvPr>
            <p:cNvSpPr/>
            <p:nvPr/>
          </p:nvSpPr>
          <p:spPr>
            <a:xfrm>
              <a:off x="5279551" y="3954996"/>
              <a:ext cx="2114821" cy="1145709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Реализация 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HAL/UMD</a:t>
              </a: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85C6E48E-9960-4160-9819-F251FCA5BCB3}"/>
                </a:ext>
              </a:extLst>
            </p:cNvPr>
            <p:cNvSpPr/>
            <p:nvPr/>
          </p:nvSpPr>
          <p:spPr>
            <a:xfrm>
              <a:off x="5578574" y="3960630"/>
              <a:ext cx="1516777" cy="32101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HAL</a:t>
              </a: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A8F503D-A657-4C3A-95C1-42D9DF52A7E3}"/>
                </a:ext>
              </a:extLst>
            </p:cNvPr>
            <p:cNvSpPr/>
            <p:nvPr/>
          </p:nvSpPr>
          <p:spPr>
            <a:xfrm>
              <a:off x="5279550" y="5530457"/>
              <a:ext cx="2114821" cy="569603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1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1">
                    <a:lumMod val="40000"/>
                    <a:lumOff val="60000"/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KMD</a:t>
              </a:r>
            </a:p>
          </p:txBody>
        </p:sp>
        <p:sp>
          <p:nvSpPr>
            <p:cNvPr id="9" name="Стрелка: вниз 8">
              <a:extLst>
                <a:ext uri="{FF2B5EF4-FFF2-40B4-BE49-F238E27FC236}">
                  <a16:creationId xmlns:a16="http://schemas.microsoft.com/office/drawing/2014/main" id="{A4B8A105-9692-4C81-A31A-433028F765BC}"/>
                </a:ext>
              </a:extLst>
            </p:cNvPr>
            <p:cNvSpPr/>
            <p:nvPr/>
          </p:nvSpPr>
          <p:spPr>
            <a:xfrm>
              <a:off x="6162029" y="2507106"/>
              <a:ext cx="349862" cy="34976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Стрелка: вниз 15">
              <a:extLst>
                <a:ext uri="{FF2B5EF4-FFF2-40B4-BE49-F238E27FC236}">
                  <a16:creationId xmlns:a16="http://schemas.microsoft.com/office/drawing/2014/main" id="{F6608C57-93C0-444C-B877-5E844B46C713}"/>
                </a:ext>
              </a:extLst>
            </p:cNvPr>
            <p:cNvSpPr/>
            <p:nvPr/>
          </p:nvSpPr>
          <p:spPr>
            <a:xfrm>
              <a:off x="6162029" y="3560634"/>
              <a:ext cx="349862" cy="34976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Стрелка: вниз 16">
              <a:extLst>
                <a:ext uri="{FF2B5EF4-FFF2-40B4-BE49-F238E27FC236}">
                  <a16:creationId xmlns:a16="http://schemas.microsoft.com/office/drawing/2014/main" id="{6EEF7D64-32E0-451E-8811-CDE1374EC835}"/>
                </a:ext>
              </a:extLst>
            </p:cNvPr>
            <p:cNvSpPr/>
            <p:nvPr/>
          </p:nvSpPr>
          <p:spPr>
            <a:xfrm>
              <a:off x="6162029" y="5140700"/>
              <a:ext cx="349862" cy="34976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Прямая соединительная линия 18">
              <a:extLst>
                <a:ext uri="{FF2B5EF4-FFF2-40B4-BE49-F238E27FC236}">
                  <a16:creationId xmlns:a16="http://schemas.microsoft.com/office/drawing/2014/main" id="{1C373BBE-794B-4451-B462-405E89B51C01}"/>
                </a:ext>
              </a:extLst>
            </p:cNvPr>
            <p:cNvCxnSpPr/>
            <p:nvPr/>
          </p:nvCxnSpPr>
          <p:spPr>
            <a:xfrm>
              <a:off x="3484255" y="5248050"/>
              <a:ext cx="552106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EA5E01C-31B4-4647-8F1E-37D882CA169C}"/>
                </a:ext>
              </a:extLst>
            </p:cNvPr>
            <p:cNvSpPr txBox="1"/>
            <p:nvPr/>
          </p:nvSpPr>
          <p:spPr>
            <a:xfrm>
              <a:off x="3484255" y="4501063"/>
              <a:ext cx="1547113" cy="643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Режим пользователя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FF454F-6733-48DC-93B0-5742BF9D3F1D}"/>
                </a:ext>
              </a:extLst>
            </p:cNvPr>
            <p:cNvSpPr txBox="1"/>
            <p:nvPr/>
          </p:nvSpPr>
          <p:spPr>
            <a:xfrm>
              <a:off x="3484254" y="5376712"/>
              <a:ext cx="15471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Режим ядра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DA6EAC7-92EA-4F91-BBA0-B5E37A321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947" y="1920240"/>
            <a:ext cx="4955452" cy="39168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API – Application Programming Interface</a:t>
            </a:r>
          </a:p>
          <a:p>
            <a:r>
              <a:rPr lang="en-US" dirty="0">
                <a:cs typeface="Calibri"/>
              </a:rPr>
              <a:t>HAL – Hardware Abstraction Layer</a:t>
            </a:r>
          </a:p>
          <a:p>
            <a:r>
              <a:rPr lang="en-US" dirty="0">
                <a:cs typeface="Calibri"/>
              </a:rPr>
              <a:t>UMD – User Mode Driver</a:t>
            </a:r>
          </a:p>
          <a:p>
            <a:r>
              <a:rPr lang="en-US" dirty="0">
                <a:cs typeface="Calibri"/>
              </a:rPr>
              <a:t>KMD – Kernel Mode Driver</a:t>
            </a:r>
          </a:p>
          <a:p>
            <a:r>
              <a:rPr lang="ru-RU" dirty="0">
                <a:cs typeface="Calibri"/>
              </a:rPr>
              <a:t>Спецификация в открытом доступе</a:t>
            </a:r>
            <a:r>
              <a:rPr lang="en-US" baseline="30000" dirty="0">
                <a:cs typeface="Calibri"/>
                <a:hlinkClick r:id="" action="ppaction://noaction"/>
              </a:rPr>
              <a:t>[4]</a:t>
            </a:r>
            <a:endParaRPr lang="ru-RU" baseline="30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3964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Копирование спрайта в </a:t>
            </a:r>
            <a:r>
              <a:rPr lang="en-US" dirty="0"/>
              <a:t>GDI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5062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Поверхность для рисования – двумерный массив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58B23D8F-5655-4A87-87C0-7EEF72494FDB}"/>
              </a:ext>
            </a:extLst>
          </p:cNvPr>
          <p:cNvGrpSpPr/>
          <p:nvPr/>
        </p:nvGrpSpPr>
        <p:grpSpPr>
          <a:xfrm>
            <a:off x="986894" y="3167161"/>
            <a:ext cx="9048646" cy="2167731"/>
            <a:chOff x="986894" y="3167161"/>
            <a:chExt cx="9048646" cy="2167731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309610A-FA08-40B2-A797-F0BCA375B2C7}"/>
                </a:ext>
              </a:extLst>
            </p:cNvPr>
            <p:cNvSpPr/>
            <p:nvPr/>
          </p:nvSpPr>
          <p:spPr>
            <a:xfrm>
              <a:off x="1619089" y="4706512"/>
              <a:ext cx="1516777" cy="628380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Спрайт в памяти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Стрелка: изогнутая 4">
              <a:extLst>
                <a:ext uri="{FF2B5EF4-FFF2-40B4-BE49-F238E27FC236}">
                  <a16:creationId xmlns:a16="http://schemas.microsoft.com/office/drawing/2014/main" id="{08840538-322E-4AA2-AFD7-6DCD51D456B7}"/>
                </a:ext>
              </a:extLst>
            </p:cNvPr>
            <p:cNvSpPr/>
            <p:nvPr/>
          </p:nvSpPr>
          <p:spPr>
            <a:xfrm>
              <a:off x="2250023" y="3578463"/>
              <a:ext cx="786482" cy="871063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F5A18C6-3D0B-4DE4-AFC3-74294CB02F49}"/>
                </a:ext>
              </a:extLst>
            </p:cNvPr>
            <p:cNvSpPr/>
            <p:nvPr/>
          </p:nvSpPr>
          <p:spPr>
            <a:xfrm>
              <a:off x="3291973" y="3316345"/>
              <a:ext cx="1516777" cy="871062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Поверхность для рисования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1FAB5D5-0967-43D0-89CF-BE0EAEC34F40}"/>
                </a:ext>
              </a:extLst>
            </p:cNvPr>
            <p:cNvSpPr/>
            <p:nvPr/>
          </p:nvSpPr>
          <p:spPr>
            <a:xfrm>
              <a:off x="6281381" y="3316345"/>
              <a:ext cx="1516777" cy="871062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Буфер рабочего стола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94268C6-8D49-4FBA-8AE5-3B14502A3475}"/>
                </a:ext>
              </a:extLst>
            </p:cNvPr>
            <p:cNvSpPr/>
            <p:nvPr/>
          </p:nvSpPr>
          <p:spPr>
            <a:xfrm>
              <a:off x="8114960" y="4702390"/>
              <a:ext cx="1516777" cy="628380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Экранный буфер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" name="Стрелка: вправо 5">
              <a:extLst>
                <a:ext uri="{FF2B5EF4-FFF2-40B4-BE49-F238E27FC236}">
                  <a16:creationId xmlns:a16="http://schemas.microsoft.com/office/drawing/2014/main" id="{09732DA9-F8BA-4A27-9C69-6950B33050A5}"/>
                </a:ext>
              </a:extLst>
            </p:cNvPr>
            <p:cNvSpPr/>
            <p:nvPr/>
          </p:nvSpPr>
          <p:spPr>
            <a:xfrm>
              <a:off x="5023626" y="3574341"/>
              <a:ext cx="1057133" cy="3835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Стрелка: изогнутая 14">
              <a:extLst>
                <a:ext uri="{FF2B5EF4-FFF2-40B4-BE49-F238E27FC236}">
                  <a16:creationId xmlns:a16="http://schemas.microsoft.com/office/drawing/2014/main" id="{1AE781B3-E3F5-4189-AF45-8DDB6F871305}"/>
                </a:ext>
              </a:extLst>
            </p:cNvPr>
            <p:cNvSpPr/>
            <p:nvPr/>
          </p:nvSpPr>
          <p:spPr>
            <a:xfrm rot="5400000">
              <a:off x="8219633" y="3616632"/>
              <a:ext cx="786482" cy="871063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A32AF1-1DDA-4298-9E31-8A4F24F4053C}"/>
                </a:ext>
              </a:extLst>
            </p:cNvPr>
            <p:cNvSpPr txBox="1"/>
            <p:nvPr/>
          </p:nvSpPr>
          <p:spPr>
            <a:xfrm>
              <a:off x="1656286" y="3171283"/>
              <a:ext cx="15167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Копирование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44531E6-50B2-4FCA-A70E-6031E2D3C332}"/>
                </a:ext>
              </a:extLst>
            </p:cNvPr>
            <p:cNvSpPr txBox="1"/>
            <p:nvPr/>
          </p:nvSpPr>
          <p:spPr>
            <a:xfrm>
              <a:off x="4795936" y="3167161"/>
              <a:ext cx="15167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Копирование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DADBDA-0194-4492-B10B-6D90F0DB8A71}"/>
                </a:ext>
              </a:extLst>
            </p:cNvPr>
            <p:cNvSpPr txBox="1"/>
            <p:nvPr/>
          </p:nvSpPr>
          <p:spPr>
            <a:xfrm>
              <a:off x="7816676" y="3176873"/>
              <a:ext cx="15167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Копирование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0" name="Прямая соединительная линия 19">
              <a:extLst>
                <a:ext uri="{FF2B5EF4-FFF2-40B4-BE49-F238E27FC236}">
                  <a16:creationId xmlns:a16="http://schemas.microsoft.com/office/drawing/2014/main" id="{DF55ED4E-E0D1-4233-832D-AED74845B219}"/>
                </a:ext>
              </a:extLst>
            </p:cNvPr>
            <p:cNvCxnSpPr/>
            <p:nvPr/>
          </p:nvCxnSpPr>
          <p:spPr>
            <a:xfrm>
              <a:off x="1024890" y="4309110"/>
              <a:ext cx="901065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A018FC4-8C25-42B6-85AA-662F47C4FAE2}"/>
                </a:ext>
              </a:extLst>
            </p:cNvPr>
            <p:cNvSpPr txBox="1"/>
            <p:nvPr/>
          </p:nvSpPr>
          <p:spPr>
            <a:xfrm>
              <a:off x="986894" y="4313232"/>
              <a:ext cx="681708" cy="368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KMD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0394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Копирование спрайта</a:t>
            </a:r>
            <a:r>
              <a:rPr lang="en-US" dirty="0"/>
              <a:t> </a:t>
            </a:r>
            <a:r>
              <a:rPr lang="ru-RU" dirty="0"/>
              <a:t>с «прямым» доступом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74361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ru-RU" dirty="0">
                <a:cs typeface="Calibri"/>
              </a:rPr>
              <a:t>Поверхность для рисования – описание (дескриптор) части экранного буфера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70B1403A-CC5F-49A2-8875-D757C372EFDE}"/>
              </a:ext>
            </a:extLst>
          </p:cNvPr>
          <p:cNvGrpSpPr/>
          <p:nvPr/>
        </p:nvGrpSpPr>
        <p:grpSpPr>
          <a:xfrm>
            <a:off x="986894" y="3192739"/>
            <a:ext cx="9048646" cy="2142153"/>
            <a:chOff x="986894" y="3192739"/>
            <a:chExt cx="9048646" cy="2142153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309610A-FA08-40B2-A797-F0BCA375B2C7}"/>
                </a:ext>
              </a:extLst>
            </p:cNvPr>
            <p:cNvSpPr/>
            <p:nvPr/>
          </p:nvSpPr>
          <p:spPr>
            <a:xfrm>
              <a:off x="1619089" y="4706512"/>
              <a:ext cx="1516777" cy="628380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Спрайт в памяти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94268C6-8D49-4FBA-8AE5-3B14502A3475}"/>
                </a:ext>
              </a:extLst>
            </p:cNvPr>
            <p:cNvSpPr/>
            <p:nvPr/>
          </p:nvSpPr>
          <p:spPr>
            <a:xfrm>
              <a:off x="8114960" y="4702390"/>
              <a:ext cx="1516777" cy="628380"/>
            </a:xfrm>
            <a:prstGeom prst="rect">
              <a:avLst/>
            </a:prstGeom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5400000" scaled="1"/>
              <a:tileRect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Экранная буфер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3A32AF1-1DDA-4298-9E31-8A4F24F4053C}"/>
                </a:ext>
              </a:extLst>
            </p:cNvPr>
            <p:cNvSpPr txBox="1"/>
            <p:nvPr/>
          </p:nvSpPr>
          <p:spPr>
            <a:xfrm>
              <a:off x="4868099" y="4555635"/>
              <a:ext cx="15167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Копирование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Стрелка: вправо 18">
              <a:extLst>
                <a:ext uri="{FF2B5EF4-FFF2-40B4-BE49-F238E27FC236}">
                  <a16:creationId xmlns:a16="http://schemas.microsoft.com/office/drawing/2014/main" id="{D2FA4224-B408-45CD-8884-8797406D521D}"/>
                </a:ext>
              </a:extLst>
            </p:cNvPr>
            <p:cNvSpPr/>
            <p:nvPr/>
          </p:nvSpPr>
          <p:spPr>
            <a:xfrm>
              <a:off x="3389136" y="4824788"/>
              <a:ext cx="4474704" cy="38358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Стрелка: вниз 19">
              <a:extLst>
                <a:ext uri="{FF2B5EF4-FFF2-40B4-BE49-F238E27FC236}">
                  <a16:creationId xmlns:a16="http://schemas.microsoft.com/office/drawing/2014/main" id="{A31D054D-FA28-4EE4-8410-49D33691041C}"/>
                </a:ext>
              </a:extLst>
            </p:cNvPr>
            <p:cNvSpPr/>
            <p:nvPr/>
          </p:nvSpPr>
          <p:spPr>
            <a:xfrm>
              <a:off x="2167890" y="3839071"/>
              <a:ext cx="354330" cy="69991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7D8D73-D789-46A4-BCCC-F9AE4C373061}"/>
                </a:ext>
              </a:extLst>
            </p:cNvPr>
            <p:cNvSpPr txBox="1"/>
            <p:nvPr/>
          </p:nvSpPr>
          <p:spPr>
            <a:xfrm>
              <a:off x="1653363" y="3192739"/>
              <a:ext cx="15167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Команда на копирование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Прямая соединительная линия 21">
              <a:extLst>
                <a:ext uri="{FF2B5EF4-FFF2-40B4-BE49-F238E27FC236}">
                  <a16:creationId xmlns:a16="http://schemas.microsoft.com/office/drawing/2014/main" id="{E20B1779-3C69-4CDC-A043-E2F8D53D33A4}"/>
                </a:ext>
              </a:extLst>
            </p:cNvPr>
            <p:cNvCxnSpPr/>
            <p:nvPr/>
          </p:nvCxnSpPr>
          <p:spPr>
            <a:xfrm>
              <a:off x="1024890" y="4309110"/>
              <a:ext cx="9010650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6DBFC0-1804-4449-918E-BDC8150C53C6}"/>
                </a:ext>
              </a:extLst>
            </p:cNvPr>
            <p:cNvSpPr txBox="1"/>
            <p:nvPr/>
          </p:nvSpPr>
          <p:spPr>
            <a:xfrm>
              <a:off x="986894" y="4313232"/>
              <a:ext cx="681708" cy="368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KMD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5063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 fontScale="90000"/>
          </a:bodyPr>
          <a:lstStyle/>
          <a:p>
            <a:r>
              <a:rPr lang="ru-RU" dirty="0"/>
              <a:t>Идея</a:t>
            </a:r>
            <a:r>
              <a:rPr lang="en-US" dirty="0"/>
              <a:t> </a:t>
            </a:r>
            <a:r>
              <a:rPr lang="ru-RU" dirty="0"/>
              <a:t>аналога прямого доступа в защищенном режиме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Прямой доступ к звуковым устройствам – </a:t>
            </a:r>
            <a:r>
              <a:rPr lang="en-US" dirty="0">
                <a:cs typeface="Calibri"/>
              </a:rPr>
              <a:t>DirectSound</a:t>
            </a:r>
          </a:p>
          <a:p>
            <a:r>
              <a:rPr lang="ru-RU" dirty="0">
                <a:cs typeface="Calibri"/>
              </a:rPr>
              <a:t>Прямой доступ к устройствам ввода – </a:t>
            </a:r>
            <a:r>
              <a:rPr lang="en-US" dirty="0">
                <a:cs typeface="Calibri"/>
              </a:rPr>
              <a:t>DirectInput</a:t>
            </a:r>
          </a:p>
          <a:p>
            <a:r>
              <a:rPr lang="ru-RU" dirty="0">
                <a:cs typeface="Calibri"/>
              </a:rPr>
              <a:t>Прямой доступ к устройству вывода графики – </a:t>
            </a:r>
            <a:r>
              <a:rPr lang="en-US" dirty="0">
                <a:cs typeface="Calibri"/>
              </a:rPr>
              <a:t>DirectDraw</a:t>
            </a:r>
          </a:p>
          <a:p>
            <a:r>
              <a:rPr lang="ru-RU" dirty="0">
                <a:cs typeface="Calibri"/>
              </a:rPr>
              <a:t>Прямой доступ к </a:t>
            </a:r>
            <a:r>
              <a:rPr lang="en-US" dirty="0">
                <a:cs typeface="Calibri"/>
              </a:rPr>
              <a:t>3D </a:t>
            </a:r>
            <a:r>
              <a:rPr lang="ru-RU" dirty="0">
                <a:cs typeface="Calibri"/>
              </a:rPr>
              <a:t>ускорителю – </a:t>
            </a:r>
            <a:r>
              <a:rPr lang="en-US" dirty="0">
                <a:cs typeface="Calibri"/>
              </a:rPr>
              <a:t>Direct3D</a:t>
            </a:r>
          </a:p>
          <a:p>
            <a:r>
              <a:rPr lang="ru-RU" dirty="0">
                <a:cs typeface="Calibri"/>
              </a:rPr>
              <a:t>Все вместе –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cs typeface="Calibri"/>
              </a:rPr>
              <a:t>DirectX</a:t>
            </a:r>
            <a:r>
              <a:rPr lang="en-US" dirty="0">
                <a:cs typeface="Calibri"/>
              </a:rPr>
              <a:t>!</a:t>
            </a:r>
            <a:endParaRPr lang="ru-RU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4789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Развитие </a:t>
            </a:r>
            <a:r>
              <a:rPr lang="en-US" dirty="0"/>
              <a:t>DirectX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Первая версия - 30 сентября 1995</a:t>
            </a:r>
          </a:p>
          <a:p>
            <a:r>
              <a:rPr lang="ru-RU" dirty="0">
                <a:cs typeface="Calibri"/>
              </a:rPr>
              <a:t>Удобно для игровой графики в высоких разрешениях</a:t>
            </a:r>
          </a:p>
          <a:p>
            <a:r>
              <a:rPr lang="ru-RU" dirty="0">
                <a:cs typeface="Calibri"/>
              </a:rPr>
              <a:t>Начало мирного сосуществования </a:t>
            </a:r>
            <a:r>
              <a:rPr lang="en-US" dirty="0">
                <a:cs typeface="Calibri"/>
              </a:rPr>
              <a:t>MS-DOS </a:t>
            </a:r>
            <a:r>
              <a:rPr lang="ru-RU" dirty="0">
                <a:cs typeface="Calibri"/>
              </a:rPr>
              <a:t>и </a:t>
            </a:r>
            <a:r>
              <a:rPr lang="en-US" dirty="0">
                <a:cs typeface="Calibri"/>
              </a:rPr>
              <a:t>Windows 95 </a:t>
            </a:r>
            <a:r>
              <a:rPr lang="ru-RU" dirty="0">
                <a:cs typeface="Calibri"/>
              </a:rPr>
              <a:t>на одном компьютере</a:t>
            </a:r>
          </a:p>
          <a:p>
            <a:r>
              <a:rPr lang="ru-RU" dirty="0">
                <a:cs typeface="Calibri"/>
              </a:rPr>
              <a:t>Некоторые игры выпускаются сразу с двумя исполняемыми файлами</a:t>
            </a:r>
          </a:p>
          <a:p>
            <a:pPr lvl="1"/>
            <a:r>
              <a:rPr lang="en-US" dirty="0">
                <a:cs typeface="Calibri"/>
              </a:rPr>
              <a:t>Red Alert – </a:t>
            </a:r>
            <a:r>
              <a:rPr lang="ru-RU" dirty="0">
                <a:cs typeface="Calibri"/>
              </a:rPr>
              <a:t>версия </a:t>
            </a:r>
            <a:r>
              <a:rPr lang="en-US" dirty="0">
                <a:cs typeface="Calibri"/>
              </a:rPr>
              <a:t>320 </a:t>
            </a:r>
            <a:r>
              <a:rPr lang="ru-RU" dirty="0">
                <a:cs typeface="Calibri"/>
              </a:rPr>
              <a:t>на 200, 256 цветов под </a:t>
            </a:r>
            <a:r>
              <a:rPr lang="en-US" dirty="0">
                <a:cs typeface="Calibri"/>
              </a:rPr>
              <a:t>MS-DOS;</a:t>
            </a:r>
            <a:r>
              <a:rPr lang="ru-RU" dirty="0">
                <a:cs typeface="Calibri"/>
              </a:rPr>
              <a:t> версия 640 на 480, 256 цветов под </a:t>
            </a:r>
            <a:r>
              <a:rPr lang="en-US" dirty="0">
                <a:cs typeface="Calibri"/>
              </a:rPr>
              <a:t>Windows 95</a:t>
            </a:r>
            <a:endParaRPr lang="ru-RU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13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Развитие </a:t>
            </a:r>
            <a:r>
              <a:rPr lang="en-US" dirty="0"/>
              <a:t>DirectX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Весьма вовремя – </a:t>
            </a:r>
            <a:r>
              <a:rPr lang="en-US" dirty="0">
                <a:cs typeface="Calibri"/>
              </a:rPr>
              <a:t>3D </a:t>
            </a:r>
            <a:r>
              <a:rPr lang="ru-RU" dirty="0">
                <a:cs typeface="Calibri"/>
              </a:rPr>
              <a:t>ускорители управляются через свои регистры, описание регистров для </a:t>
            </a:r>
            <a:r>
              <a:rPr lang="en-US" dirty="0">
                <a:cs typeface="Calibri"/>
              </a:rPr>
              <a:t>Radeon HD7x00 </a:t>
            </a:r>
            <a:r>
              <a:rPr lang="ru-RU" dirty="0">
                <a:cs typeface="Calibri"/>
              </a:rPr>
              <a:t>занимает 230 страниц </a:t>
            </a:r>
            <a:r>
              <a:rPr lang="en-US" dirty="0">
                <a:cs typeface="Calibri"/>
              </a:rPr>
              <a:t>A4</a:t>
            </a:r>
            <a:r>
              <a:rPr lang="en-US" baseline="30000" dirty="0">
                <a:cs typeface="Calibri"/>
                <a:hlinkClick r:id="rId3" action="ppaction://hlinksldjump"/>
              </a:rPr>
              <a:t>[5]</a:t>
            </a:r>
            <a:endParaRPr lang="ru-RU" baseline="30000" dirty="0">
              <a:cs typeface="Calibri"/>
            </a:endParaRPr>
          </a:p>
          <a:p>
            <a:r>
              <a:rPr lang="ru-RU" dirty="0">
                <a:cs typeface="Calibri"/>
              </a:rPr>
              <a:t>Сотрудничество с </a:t>
            </a:r>
            <a:r>
              <a:rPr lang="en-US" dirty="0">
                <a:cs typeface="Calibri"/>
              </a:rPr>
              <a:t>IHV (independent hardware vendor</a:t>
            </a:r>
            <a:r>
              <a:rPr lang="ru-RU" dirty="0">
                <a:cs typeface="Calibri"/>
              </a:rPr>
              <a:t>, производители видеокарт</a:t>
            </a:r>
            <a:r>
              <a:rPr lang="en-US" dirty="0">
                <a:cs typeface="Calibri"/>
              </a:rPr>
              <a:t>)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Выпуск </a:t>
            </a:r>
            <a:r>
              <a:rPr lang="en-US" dirty="0">
                <a:cs typeface="Calibri"/>
              </a:rPr>
              <a:t>Xbox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</a:rPr>
              <a:t>Начало массового распространения </a:t>
            </a:r>
            <a:r>
              <a:rPr lang="en-US" dirty="0">
                <a:cs typeface="Calibri"/>
              </a:rPr>
              <a:t>DirectX </a:t>
            </a:r>
            <a:r>
              <a:rPr lang="ru-RU" dirty="0">
                <a:cs typeface="Calibri"/>
              </a:rPr>
              <a:t>для разработки игр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41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 dirty="0"/>
              <a:t>DirectX</a:t>
            </a:r>
            <a:r>
              <a:rPr lang="ru-RU" dirty="0"/>
              <a:t> 11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u-RU" dirty="0">
                <a:cs typeface="Calibri"/>
              </a:rPr>
              <a:t>Вышел 22 октября 2009</a:t>
            </a:r>
          </a:p>
          <a:p>
            <a:r>
              <a:rPr lang="ru-RU" dirty="0">
                <a:cs typeface="Calibri"/>
              </a:rPr>
              <a:t>Продуманный интерфейс, унаследован от </a:t>
            </a:r>
            <a:r>
              <a:rPr lang="en-US" dirty="0">
                <a:cs typeface="Calibri"/>
              </a:rPr>
              <a:t>DirectX 10</a:t>
            </a:r>
            <a:r>
              <a:rPr lang="ru-RU" dirty="0">
                <a:cs typeface="Calibri"/>
              </a:rPr>
              <a:t>, покрывающий все возможности современных (для себя) видеокарт и задел на будущее</a:t>
            </a:r>
            <a:endParaRPr lang="en-US" dirty="0">
              <a:cs typeface="Calibri"/>
            </a:endParaRPr>
          </a:p>
          <a:p>
            <a:r>
              <a:rPr lang="ru-RU" dirty="0">
                <a:cs typeface="Calibri"/>
              </a:rPr>
              <a:t>Очень популярен до сих пор</a:t>
            </a:r>
          </a:p>
          <a:p>
            <a:r>
              <a:rPr lang="ru-RU" dirty="0">
                <a:cs typeface="Calibri"/>
              </a:rPr>
              <a:t>Расширяется за счет минорных изменений</a:t>
            </a:r>
          </a:p>
          <a:p>
            <a:pPr lvl="1"/>
            <a:r>
              <a:rPr lang="ru-RU" dirty="0">
                <a:cs typeface="Calibri"/>
              </a:rPr>
              <a:t>Поддержка частичного обновления константных буферов</a:t>
            </a:r>
            <a:endParaRPr lang="en-US" dirty="0">
              <a:cs typeface="Calibri"/>
            </a:endParaRPr>
          </a:p>
          <a:p>
            <a:r>
              <a:rPr lang="ru-RU" dirty="0">
                <a:cs typeface="Calibri"/>
              </a:rPr>
              <a:t>Не без косяков</a:t>
            </a:r>
          </a:p>
          <a:p>
            <a:pPr lvl="1"/>
            <a:r>
              <a:rPr lang="en-US" dirty="0" err="1"/>
              <a:t>OMSetRenderTargetsAndUnorderedAccessView</a:t>
            </a:r>
            <a:r>
              <a:rPr lang="ru-RU" dirty="0"/>
              <a:t> =)</a:t>
            </a:r>
            <a:endParaRPr lang="ru-RU" dirty="0">
              <a:cs typeface="Calibri"/>
            </a:endParaRPr>
          </a:p>
          <a:p>
            <a:endParaRPr lang="ru-RU" dirty="0">
              <a:cs typeface="Calibri"/>
            </a:endParaRPr>
          </a:p>
          <a:p>
            <a:endParaRPr lang="ru-RU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73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US" dirty="0"/>
              <a:t>DirectX</a:t>
            </a:r>
            <a:r>
              <a:rPr lang="ru-RU" dirty="0"/>
              <a:t> 11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</a:rPr>
              <a:t>Существует уже долгое время</a:t>
            </a:r>
          </a:p>
          <a:p>
            <a:r>
              <a:rPr lang="ru-RU" dirty="0">
                <a:cs typeface="Calibri"/>
              </a:rPr>
              <a:t>Огромное количество приложений (десятки тысяч), не только игр, которые его используют</a:t>
            </a:r>
          </a:p>
          <a:p>
            <a:r>
              <a:rPr lang="ru-RU" dirty="0">
                <a:cs typeface="Calibri"/>
              </a:rPr>
              <a:t>Очень хорошо отлаженные драйвера от </a:t>
            </a:r>
            <a:r>
              <a:rPr lang="en-US" dirty="0">
                <a:cs typeface="Calibri"/>
              </a:rPr>
              <a:t>IHV</a:t>
            </a:r>
            <a:r>
              <a:rPr lang="ru-RU" dirty="0">
                <a:cs typeface="Calibri"/>
              </a:rPr>
              <a:t> и сама реализация от </a:t>
            </a:r>
            <a:r>
              <a:rPr lang="en-US" dirty="0">
                <a:cs typeface="Calibri"/>
              </a:rPr>
              <a:t>Microsoft</a:t>
            </a:r>
          </a:p>
          <a:p>
            <a:r>
              <a:rPr lang="en-US" dirty="0">
                <a:cs typeface="Calibri"/>
              </a:rPr>
              <a:t>“</a:t>
            </a:r>
            <a:r>
              <a:rPr lang="ru-RU" dirty="0">
                <a:cs typeface="Calibri"/>
              </a:rPr>
              <a:t>Нет</a:t>
            </a:r>
            <a:r>
              <a:rPr lang="en-US" dirty="0">
                <a:cs typeface="Calibri"/>
              </a:rPr>
              <a:t>”</a:t>
            </a:r>
            <a:r>
              <a:rPr lang="ru-RU" dirty="0">
                <a:cs typeface="Calibri"/>
              </a:rPr>
              <a:t> багов и высокая производительность</a:t>
            </a:r>
          </a:p>
          <a:p>
            <a:r>
              <a:rPr lang="ru-RU" dirty="0">
                <a:cs typeface="Calibri"/>
              </a:rPr>
              <a:t>Относительно простой =)</a:t>
            </a:r>
            <a:endParaRPr lang="en-US" dirty="0">
              <a:cs typeface="Calibri"/>
            </a:endParaRPr>
          </a:p>
          <a:p>
            <a:endParaRPr lang="ru-RU" dirty="0">
              <a:cs typeface="Calibri"/>
            </a:endParaRPr>
          </a:p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010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ru-RU" sz="2400" dirty="0">
                <a:solidFill>
                  <a:srgbClr val="333333"/>
                </a:solidFill>
              </a:rPr>
              <a:t>Долгое время работа с графикой осуществлялась через «прямой» доступ к железу – это было трудоемко, но эффективно</a:t>
            </a: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Современные операционные системы такого не разрешают, поскольку работают в защищенном режиме для поддержания многозадачности</a:t>
            </a: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Парк </a:t>
            </a:r>
            <a:r>
              <a:rPr lang="en-US" sz="2400" dirty="0">
                <a:solidFill>
                  <a:srgbClr val="333333"/>
                </a:solidFill>
              </a:rPr>
              <a:t>GPU </a:t>
            </a:r>
            <a:r>
              <a:rPr lang="ru-RU" sz="2400" dirty="0">
                <a:solidFill>
                  <a:srgbClr val="333333"/>
                </a:solidFill>
              </a:rPr>
              <a:t>и их сложность выросли в десятки и сотни раз</a:t>
            </a:r>
          </a:p>
          <a:p>
            <a:pPr marR="0"/>
            <a:r>
              <a:rPr lang="ru-RU" sz="2400" dirty="0">
                <a:solidFill>
                  <a:srgbClr val="333333"/>
                </a:solidFill>
              </a:rPr>
              <a:t>Работаем с графикой через специализированные </a:t>
            </a:r>
            <a:r>
              <a:rPr lang="en-US" sz="2400" dirty="0">
                <a:solidFill>
                  <a:srgbClr val="333333"/>
                </a:solidFill>
              </a:rPr>
              <a:t>API</a:t>
            </a:r>
            <a:endParaRPr lang="ru-RU" sz="2400" dirty="0">
              <a:solidFill>
                <a:srgbClr val="333333"/>
              </a:solidFill>
            </a:endParaRPr>
          </a:p>
          <a:p>
            <a:pPr marR="0"/>
            <a:r>
              <a:rPr lang="en-US" sz="2400" dirty="0">
                <a:solidFill>
                  <a:srgbClr val="333333"/>
                </a:solidFill>
              </a:rPr>
              <a:t>DirectX 11 </a:t>
            </a:r>
            <a:r>
              <a:rPr lang="ru-RU" sz="2400" dirty="0">
                <a:solidFill>
                  <a:srgbClr val="333333"/>
                </a:solidFill>
              </a:rPr>
              <a:t>зрелый и удобный программный интерфейс, отлаженный, относительно простой и эффективный – хорош как для большинства коммерческих продуктов, так и для обучения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11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4E273-1BD3-4886-B183-8EA0CD8AA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ru-RU" dirty="0"/>
              <a:t>Ссылки</a:t>
            </a:r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A79-2747-4663-9DD7-388DB5EDF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cs typeface="Calibri"/>
                <a:hlinkClick r:id="rId3"/>
              </a:rPr>
              <a:t>Юров, </a:t>
            </a:r>
            <a:r>
              <a:rPr lang="ru-RU" dirty="0" err="1">
                <a:cs typeface="Calibri"/>
                <a:hlinkClick r:id="rId3"/>
              </a:rPr>
              <a:t>Хорошенко</a:t>
            </a:r>
            <a:r>
              <a:rPr lang="ru-RU" dirty="0">
                <a:cs typeface="Calibri"/>
                <a:hlinkClick r:id="rId3"/>
              </a:rPr>
              <a:t>, </a:t>
            </a:r>
            <a:r>
              <a:rPr lang="en-US" dirty="0">
                <a:cs typeface="Calibri"/>
                <a:hlinkClick r:id="rId3"/>
              </a:rPr>
              <a:t>“</a:t>
            </a:r>
            <a:r>
              <a:rPr lang="ru-RU" dirty="0">
                <a:cs typeface="Calibri"/>
                <a:hlinkClick r:id="rId3"/>
              </a:rPr>
              <a:t>Ассемблер: учебный курс</a:t>
            </a:r>
            <a:r>
              <a:rPr lang="en-US" dirty="0">
                <a:cs typeface="Calibri"/>
                <a:hlinkClick r:id="rId3"/>
              </a:rPr>
              <a:t>”</a:t>
            </a:r>
            <a:endParaRPr lang="ru-RU" dirty="0">
              <a:cs typeface="Calibri"/>
            </a:endParaRPr>
          </a:p>
          <a:p>
            <a:r>
              <a:rPr lang="en-US" dirty="0">
                <a:cs typeface="Calibri"/>
                <a:hlinkClick r:id="rId4"/>
              </a:rPr>
              <a:t>Abrash, “Zen of Graphics Programming”</a:t>
            </a:r>
            <a:endParaRPr lang="ru-RU" dirty="0">
              <a:cs typeface="Calibri"/>
            </a:endParaRPr>
          </a:p>
          <a:p>
            <a:r>
              <a:rPr lang="ru-RU" dirty="0">
                <a:cs typeface="Calibri"/>
                <a:hlinkClick r:id="rId5"/>
              </a:rPr>
              <a:t>Таненбаум, "Современные операционные системы“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  <a:hlinkClick r:id="rId6"/>
              </a:rPr>
              <a:t>Microsoft, Display Drivers Specification</a:t>
            </a:r>
            <a:endParaRPr lang="en-US" dirty="0">
              <a:cs typeface="Calibri"/>
            </a:endParaRPr>
          </a:p>
          <a:p>
            <a:r>
              <a:rPr lang="en-US" dirty="0">
                <a:cs typeface="Calibri"/>
                <a:hlinkClick r:id="rId7"/>
              </a:rPr>
              <a:t>AMD, Southern Islands Registers Specification</a:t>
            </a:r>
            <a:endParaRPr lang="ru-RU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7E3BD-4BED-4A42-A9AA-CF4336A07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238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16131</TotalTime>
  <Words>814</Words>
  <Application>Microsoft Office PowerPoint</Application>
  <PresentationFormat>Widescreen</PresentationFormat>
  <Paragraphs>149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Глава 1. История</vt:lpstr>
      <vt:lpstr>Разработка графики под MS-DOS</vt:lpstr>
      <vt:lpstr>Отрисовка спрайта в режиме 640x480, 256 цветов (SVGA)</vt:lpstr>
      <vt:lpstr>Отрисовка спрайта в режиме 640x480, 256 цветов (SVGA)</vt:lpstr>
      <vt:lpstr>Персональный компьютер, как инструмент для работы</vt:lpstr>
      <vt:lpstr>Многозадачная ОС</vt:lpstr>
      <vt:lpstr>Библиотека GDI под Windows</vt:lpstr>
      <vt:lpstr>Идея аналога прямого доступа в защищенном режиме</vt:lpstr>
      <vt:lpstr>Копирование спрайта в GDI</vt:lpstr>
      <vt:lpstr>Копирование спрайта с «прямым» доступом</vt:lpstr>
      <vt:lpstr>Идея аналога прямого доступа в защищенном режиме</vt:lpstr>
      <vt:lpstr>Развитие DirectX</vt:lpstr>
      <vt:lpstr>Развитие DirectX</vt:lpstr>
      <vt:lpstr>DirectX 11</vt:lpstr>
      <vt:lpstr>DirectX 11</vt:lpstr>
      <vt:lpstr>Итоги</vt:lpstr>
      <vt:lpstr>Ссылки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Глава 1. Диагностика и устранение проблем</dc:title>
  <dc:creator>Anton</dc:creator>
  <cp:lastModifiedBy>Anton Vasilyev</cp:lastModifiedBy>
  <cp:revision>170</cp:revision>
  <dcterms:created xsi:type="dcterms:W3CDTF">2020-11-03T09:20:39Z</dcterms:created>
  <dcterms:modified xsi:type="dcterms:W3CDTF">2026-02-04T22:14:58Z</dcterms:modified>
</cp:coreProperties>
</file>